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0"/>
    <p:restoredTop sz="73936"/>
  </p:normalViewPr>
  <p:slideViewPr>
    <p:cSldViewPr snapToGrid="0" snapToObjects="1">
      <p:cViewPr varScale="1">
        <p:scale>
          <a:sx n="127" d="100"/>
          <a:sy n="127" d="100"/>
        </p:scale>
        <p:origin x="1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654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afternoon, everyone, and thank you for the opportunity to present my thesis.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Daniel Nana Dwuma, and today I will be defending my thesis, </a:t>
            </a:r>
            <a:r>
              <a:rPr lang="en-US" sz="14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Assessing Online Privacy Policy Compliance with GDPR and CCPA Using Natural Language Processing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examines how NLP and deep learning techniques can be used to automatically evaluate privacy policy compliance against major data privacy regulations.</a:t>
            </a:r>
          </a:p>
          <a:p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I begin, I would like to sincerely thank my committee members, Dr. Ed Hassler, Dr. Jason Xiong, and Dr. Jeffrey P. Kaleta, for their time, mentorship, and valuable feedback.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Roadmap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start by explaining the problem this study addresses and why privacy policy compliance has become such an important issue.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I will summarize the key literature and identify the gap that motivated this research.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present the research questions and objectives.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 by the methodology I used, especially the BERT model and the compliance assessment design.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then walk through the results 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 will close with the conclusions, recommendations, and the broader significance of the study.”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study is motivated by the growing complexity of online privacy policies. </a:t>
            </a:r>
          </a:p>
          <a:p>
            <a:endParaRPr lang="en-US" dirty="0"/>
          </a:p>
          <a:p>
            <a:r>
              <a:rPr lang="en-US" dirty="0"/>
              <a:t>Over time, these policies have become longer, more technical, and harder to review, especially under regulations like GDPR and CCPA. </a:t>
            </a:r>
          </a:p>
          <a:p>
            <a:endParaRPr lang="en-US" dirty="0"/>
          </a:p>
          <a:p>
            <a:r>
              <a:rPr lang="en-US" dirty="0"/>
              <a:t>Manual review is no longer practical at scale because there are too many websites, policies change frequently, and </a:t>
            </a:r>
          </a:p>
          <a:p>
            <a:endParaRPr lang="en-US" dirty="0"/>
          </a:p>
          <a:p>
            <a:r>
              <a:rPr lang="en-US" dirty="0"/>
              <a:t>even experts may interpret the same policy differently. </a:t>
            </a:r>
          </a:p>
          <a:p>
            <a:endParaRPr lang="en-US" dirty="0"/>
          </a:p>
          <a:p>
            <a:r>
              <a:rPr lang="en-US" dirty="0"/>
              <a:t>In addition, many organizations must comply with both GDPR and CCPA at the same time, despite their differences. </a:t>
            </a:r>
          </a:p>
          <a:p>
            <a:endParaRPr lang="en-US" dirty="0"/>
          </a:p>
          <a:p>
            <a:r>
              <a:rPr lang="en-US" dirty="0"/>
              <a:t>Together, these challenges show the need for a more systematic and automated NLP-based approach to compliance assessment.”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both GDPR and CCPA require organizations to provide transparent disclosures about how personal data is collected, used, shared, and protected, 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still no scalable automated tool that can systematically assess compliance across both frameworks at the same time.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gap exists for three main reasons.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rely on simple keyword matching - unable to capture legal semantics and context.</a:t>
            </a:r>
            <a:endParaRPr lang="en-US" sz="1200" b="1" dirty="0"/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research evaluates only GDPR or CCPA, not both simultaneously.</a:t>
            </a:r>
            <a:endParaRPr lang="en-US" sz="1200" b="1" dirty="0"/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there is a lack of annotated, regulation-aware datasets. </a:t>
            </a:r>
            <a:r>
              <a:rPr lang="en-US" sz="1400" b="1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Without labeled datasets tied to specific compliance elements, it is difficult to train and evaluate robust NLP models for this task.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the core gap in the literature is not just the absence of automation, but the absence of an automated, scalable, dual-framework approach that can interpret privacy policy language in a more meaningful way.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the gap this study aims to fill</a:t>
            </a:r>
            <a:r>
              <a:rPr lang="en-US" b="1" dirty="0">
                <a:effectLst/>
              </a:rPr>
              <a:t>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three main areas that shaped my study. </a:t>
            </a:r>
          </a:p>
          <a:p>
            <a:endParaRPr lang="en-US" dirty="0"/>
          </a:p>
          <a:p>
            <a:r>
              <a:rPr lang="en-US" dirty="0"/>
              <a:t>First, prior research shows that privacy policies are often difficult for users to understand and are hard to review manually. </a:t>
            </a:r>
          </a:p>
          <a:p>
            <a:endParaRPr lang="en-US" dirty="0"/>
          </a:p>
          <a:p>
            <a:r>
              <a:rPr lang="en-US" dirty="0"/>
              <a:t>Second, GDPR and CCPA both require important privacy disclosures, but they differ in structure, especially in their opt-in versus opt-out approaches. </a:t>
            </a:r>
          </a:p>
          <a:p>
            <a:endParaRPr lang="en-US" dirty="0"/>
          </a:p>
          <a:p>
            <a:r>
              <a:rPr lang="en-US" dirty="0"/>
              <a:t>Third, NLP research shows that automated analysis of privacy policies is possible, especially with models like BERT. </a:t>
            </a:r>
          </a:p>
          <a:p>
            <a:endParaRPr lang="en-US" dirty="0"/>
          </a:p>
          <a:p>
            <a:r>
              <a:rPr lang="en-US" dirty="0"/>
              <a:t>However, most prior studies focus on only one regulation at a time, which leads to the gap my study addresses.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According to GDPR’s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Protection Impact Assessments (DPIAs) under Article 35</a:t>
            </a:r>
            <a:r>
              <a:rPr lang="en-US" dirty="0">
                <a:effectLst/>
              </a:rPr>
              <a:t>, </a:t>
            </a:r>
          </a:p>
          <a:p>
            <a:r>
              <a:rPr lang="en-US" dirty="0">
                <a:effectLst/>
              </a:rPr>
              <a:t>Lawful Processing and Consent under article 6 and 7</a:t>
            </a:r>
          </a:p>
          <a:p>
            <a:r>
              <a:rPr lang="en-US" dirty="0">
                <a:effectLst/>
              </a:rPr>
              <a:t>Transparency Obligation under Articles 13 and 14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According to CCPA’s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Section 1798.100, 105, 120, 125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summarizes the five phases of the methodology.</a:t>
            </a:r>
          </a:p>
          <a:p>
            <a:endParaRPr lang="en-US" dirty="0"/>
          </a:p>
          <a:p>
            <a:r>
              <a:rPr lang="en-US" dirty="0"/>
              <a:t>From collecting and validating privacy policies to preprocessing, </a:t>
            </a:r>
          </a:p>
          <a:p>
            <a:endParaRPr lang="en-US" dirty="0"/>
          </a:p>
          <a:p>
            <a:r>
              <a:rPr lang="en-US" dirty="0"/>
              <a:t>Model training, and evaluation. </a:t>
            </a:r>
          </a:p>
          <a:p>
            <a:endParaRPr lang="en-US" dirty="0"/>
          </a:p>
          <a:p>
            <a:r>
              <a:rPr lang="en-US" dirty="0"/>
              <a:t>Overall, the process moved from raw web data to a structured multi-label classification task, and then to performance and sector-level analysis.</a:t>
            </a:r>
          </a:p>
          <a:p>
            <a:endParaRPr lang="en-US" dirty="0"/>
          </a:p>
          <a:p>
            <a:r>
              <a:rPr lang="en-US" dirty="0"/>
              <a:t>MD5 – Message Digest algorithm 5 – to check data integrity (it uses cryptographic hash function to convert input data of any size into a fixed length 128-bit fingerprint or digest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BERT is a language model that helps a computer </a:t>
            </a:r>
            <a:r>
              <a:rPr lang="en-US" b="1" dirty="0"/>
              <a:t>understand the meaning of words based on their context in a sentence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learning rate controls how much the model adjusts its weights during training. I used a small learning rate of 2e-5 so the BERT model could learn carefully from my dataset without making overly large updates.</a:t>
            </a:r>
          </a:p>
          <a:p>
            <a:endParaRPr lang="en-US" dirty="0"/>
          </a:p>
          <a:p>
            <a:r>
              <a:rPr lang="en-US" dirty="0"/>
              <a:t>An epoch is </a:t>
            </a:r>
            <a:r>
              <a:rPr lang="en-US" b="1" dirty="0"/>
              <a:t>one full pass through the entire training dataset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the model reads all of the training data once, that is one epoch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Batch size is </a:t>
            </a:r>
            <a:r>
              <a:rPr lang="en-US" b="1" dirty="0"/>
              <a:t>the number of training examples the model processes at one time before updating itself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Instead of learning from the whole dataset at once, the model learns in small groups. Each group is called a batch.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Binary cross-entropy measures how far the model’s predicted yes-or-no labels are from the true labels. It is appropriate here because each compliance element is treated as a separate binary outcome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first research question by comparing overall GDPR and CCPA compliance. </a:t>
            </a:r>
          </a:p>
          <a:p>
            <a:endParaRPr lang="en-US" dirty="0"/>
          </a:p>
          <a:p>
            <a:r>
              <a:rPr lang="en-US" dirty="0"/>
              <a:t>The results show that GDPR compliance was substantially higher than CCPA compliance, with a gap of 26.3 percentage points. </a:t>
            </a:r>
          </a:p>
          <a:p>
            <a:endParaRPr lang="en-US" dirty="0"/>
          </a:p>
          <a:p>
            <a:r>
              <a:rPr lang="en-US" dirty="0"/>
              <a:t>This difference was also highly statistically significant, suggesting that organizations reflect GDPR requirements more consistently than CCPA requirements in their privacy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“This slide addresses RQ2 by comparing compliance levels across five sectors.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The results show that both GDPR and CCPA compliance remain fairly consistent across finance, health, retail, technology, and media.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Since the differences were not statistically significant, this suggests that compliance gaps are broad and systemic rather than driven by industry sector.”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organizations perform better on compliance areas where GDPR and CCPA overlap, but much worse on requirements that are unique to CCPA. </a:t>
            </a:r>
          </a:p>
          <a:p>
            <a:endParaRPr lang="en-US" dirty="0"/>
          </a:p>
          <a:p>
            <a:r>
              <a:rPr lang="en-US" dirty="0"/>
              <a:t>This suggests that many organizations rely on GDPR-style disclosures without fully addressing CCPA’s distinct obligations.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For instance, a company may explain what categories of personal data it collects and why it collects them, which helps with both GDPR and some overlapping CCPA disclosure requirements.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But the same company may fail to clearly provide a “notice at collection” or right to delete, which are more specific to CCPA.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the BERT model performed well overall on the test set. </a:t>
            </a:r>
          </a:p>
          <a:p>
            <a:endParaRPr lang="en-US" dirty="0"/>
          </a:p>
          <a:p>
            <a:r>
              <a:rPr lang="en-US" dirty="0"/>
              <a:t>It achieved strong accuracy, precision, and F1 score, which means it was generally effective at identifying compliance elements. </a:t>
            </a:r>
          </a:p>
          <a:p>
            <a:endParaRPr lang="en-US" dirty="0"/>
          </a:p>
          <a:p>
            <a:r>
              <a:rPr lang="en-US" dirty="0"/>
              <a:t>The model performed best on clearer and more consistently stated elements, but performance was lower on more complex or less consistently disclosed areas.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  <a:p>
            <a:r>
              <a:rPr lang="en-US" b="1" dirty="0"/>
              <a:t>“The model performed very well on elements like recipients and processing purposes because companies often state those clearly in privacy policies. </a:t>
            </a:r>
          </a:p>
          <a:p>
            <a:endParaRPr lang="en-US" b="1" dirty="0"/>
          </a:p>
          <a:p>
            <a:r>
              <a:rPr lang="en-US" b="1" dirty="0"/>
              <a:t>But it performed worse on areas like third-country transfers or notice at collection, where the language is often less direct or less consistently disclosed.”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study contributes to the literature in five main ways. </a:t>
            </a:r>
          </a:p>
          <a:p>
            <a:endParaRPr lang="en-US" dirty="0"/>
          </a:p>
          <a:p>
            <a:r>
              <a:rPr lang="en-US" dirty="0"/>
              <a:t>It provides a large-scale comparison of GDPR and CCPA compliance, </a:t>
            </a:r>
          </a:p>
          <a:p>
            <a:endParaRPr lang="en-US" dirty="0"/>
          </a:p>
          <a:p>
            <a:r>
              <a:rPr lang="en-US" dirty="0"/>
              <a:t>shows that NLP can support automated assessment, </a:t>
            </a:r>
          </a:p>
          <a:p>
            <a:endParaRPr lang="en-US" dirty="0"/>
          </a:p>
          <a:p>
            <a:r>
              <a:rPr lang="en-US" dirty="0"/>
              <a:t>uses a large validated dataset, </a:t>
            </a:r>
          </a:p>
          <a:p>
            <a:endParaRPr lang="en-US" dirty="0"/>
          </a:p>
          <a:p>
            <a:r>
              <a:rPr lang="en-US" dirty="0"/>
              <a:t>introduces a unified 24-element framework, </a:t>
            </a:r>
          </a:p>
          <a:p>
            <a:endParaRPr lang="en-US" dirty="0"/>
          </a:p>
          <a:p>
            <a:r>
              <a:rPr lang="en-US" dirty="0"/>
              <a:t>and shows that compliance gaps are widespread across sectors.”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Organizations should not assume GDPR coverage is enough for CCPA, and they should focus on the weakest disclosure areas. </a:t>
            </a:r>
          </a:p>
          <a:p>
            <a:endParaRPr lang="en-US" dirty="0"/>
          </a:p>
          <a:p>
            <a:r>
              <a:rPr lang="en-US" dirty="0"/>
              <a:t>Regulators should provide clearer guidance and encourage more standardized disclosures. </a:t>
            </a:r>
          </a:p>
          <a:p>
            <a:endParaRPr lang="en-US" dirty="0"/>
          </a:p>
          <a:p>
            <a:r>
              <a:rPr lang="en-US" dirty="0"/>
              <a:t>Researchers can build on this work by testing stronger models and extending the framework to other laws and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These limitations help frame the findings appropriately.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The study measures disclosed compliance in English-language privacy policies at one point in time, not actual organizational behavior.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 addition, keyword-based labeling, incomplete scraping coverage, and the use of general-purpose BERT may have limited detection in some cases.”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conclusion, the study shows that privacy policy compliance remains incomplete, and the problem appears across sectors rather than in one industry alone.</a:t>
            </a:r>
          </a:p>
          <a:p>
            <a:endParaRPr lang="en-US" dirty="0"/>
          </a:p>
          <a:p>
            <a:r>
              <a:rPr lang="en-US" dirty="0"/>
              <a:t> It also shows that GDPR and CCPA need distinct disclosure strategies, while the NLP results demonstrate that automated compliance assessment can work effectively at scale.”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F5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6583680" cy="1028700"/>
          </a:xfrm>
          <a:prstGeom prst="rect">
            <a:avLst/>
          </a:prstGeom>
          <a:solidFill>
            <a:srgbClr val="131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ONLINE PRIVACY POLICY</a:t>
            </a:r>
            <a:endParaRPr lang="en-US" sz="2200" dirty="0"/>
          </a:p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GDPR AND CCPA</a:t>
            </a:r>
            <a:endParaRPr lang="en-US" sz="2200" dirty="0"/>
          </a:p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NATURAL LANGUAGE PROCESSING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944368"/>
            <a:ext cx="1097280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3094149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</a:t>
            </a:r>
            <a:endParaRPr lang="en-US" sz="1250" dirty="0"/>
          </a:p>
          <a:p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Applied Data Analytics  | MBA | Walker College of Business</a:t>
            </a:r>
            <a:endParaRPr lang="en-US" sz="1250" dirty="0"/>
          </a:p>
          <a:p>
            <a:r>
              <a:rPr lang="en-US" sz="12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State University |  May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42062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Committee Chair: Dr. Ed Hassler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Jason Xiong   ·   Member: Dr. Jeffrey P. Kaleta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914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5244EA9-846B-39B6-DE89-4A38A34E6955}"/>
              </a:ext>
            </a:extLst>
          </p:cNvPr>
          <p:cNvSpPr/>
          <p:nvPr/>
        </p:nvSpPr>
        <p:spPr>
          <a:xfrm>
            <a:off x="7132320" y="2971800"/>
            <a:ext cx="1097280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4206240" cy="10058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640080" cy="100584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325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141732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182880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policy compliance challenge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2468880"/>
            <a:ext cx="4206240" cy="10058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2468880"/>
            <a:ext cx="640080" cy="100584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2468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264" y="256032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297180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- and what's missing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3611880"/>
            <a:ext cx="4206240" cy="10058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611880"/>
            <a:ext cx="640080" cy="100584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611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264" y="370332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" y="411480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guiding questions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1325880"/>
            <a:ext cx="4206240" cy="10058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0872" y="1325880"/>
            <a:ext cx="640080" cy="100584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90872" y="1325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04104" y="141732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04104" y="182880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BERT model, and compliance assessment design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90872" y="2468880"/>
            <a:ext cx="4206240" cy="10058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90872" y="2468880"/>
            <a:ext cx="640080" cy="100584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2468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04104" y="256032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04104" y="297180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vs. CCPA, sector analysis, model performance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90872" y="3611880"/>
            <a:ext cx="4206240" cy="10058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90872" y="3611880"/>
            <a:ext cx="640080" cy="100584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90872" y="3611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04104" y="370332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04104" y="411480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organizations, regulators, researchers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privacy policy compliance assessment matters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" y="132588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policies have grown dramatically in length and legal complexity since 1996 - driven by GDPR, CCPA, and global data regulations.
</a:t>
            </a: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not scalable.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thousands of websites potentially subject to GDPR or CCPA obligations, expert-led audits cannot keep up.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206240" cy="74980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36592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85232" y="137160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legal language - vague phrases like 'may collect' obscure actual data practices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4206240" cy="74980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2240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85232" y="224028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Multi-jurisdictional: companies must comply with GDPR (EU) AND CCPA (California) simultaneously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4206240" cy="74980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31089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85232" y="310896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change frequently - one-time audits become outdated quickly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931920"/>
            <a:ext cx="4206240" cy="74980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36592" y="3977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85232" y="397764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Even experts often interpret privacy policies differently.</a:t>
            </a:r>
          </a:p>
        </p:txBody>
      </p:sp>
      <p:sp>
        <p:nvSpPr>
          <p:cNvPr id="18" name="Shap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Background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gap does this research fill?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8631936" cy="1188720"/>
          </a:xfrm>
          <a:prstGeom prst="rect">
            <a:avLst/>
          </a:prstGeom>
          <a:solidFill>
            <a:srgbClr val="1A25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GDPR and CCPA mandating transparent data disclosures, there are no scalable automated tools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systematically assessing compliance across both frameworks simultaneously.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56032" y="2724912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2724912"/>
            <a:ext cx="2761488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79806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Limits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218688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rely on simple keyword matching - unable to capture legal semantics and context.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2724912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2724912"/>
            <a:ext cx="2761488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79806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Single-Framework Focus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3218688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research evaluates only GDPR or CCPA, not both simultaneously.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2724912"/>
            <a:ext cx="276148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2724912"/>
            <a:ext cx="2761488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279806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Annotated Datasets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3218688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of regulation-aware labeled datasets limits robust model development.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502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5852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Three streams of literature informing this</a:t>
            </a:r>
            <a:r>
              <a:rPr lang="en-US" sz="1400" dirty="0"/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study</a:t>
            </a:r>
          </a:p>
        </p:txBody>
      </p:sp>
      <p:sp>
        <p:nvSpPr>
          <p:cNvPr id="5" name="Shape 3"/>
          <p:cNvSpPr/>
          <p:nvPr/>
        </p:nvSpPr>
        <p:spPr>
          <a:xfrm>
            <a:off x="256032" y="996696"/>
            <a:ext cx="2761488" cy="3383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96696"/>
            <a:ext cx="2761488" cy="45720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" y="101269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Transparency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" y="1529000"/>
            <a:ext cx="2578608" cy="285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Privacy policies are often long and hard to understand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Reviewing them manually is time-consuming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Policies may meet legal requirements without being clear</a:t>
            </a: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>
              <a:buSzPct val="100000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(Milne et al., 2016;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Reidenberg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et al., 2015; McDonald &amp; Cranor, 2008; Cate, 2010; Nissenbaum, 2011)</a:t>
            </a:r>
          </a:p>
        </p:txBody>
      </p:sp>
      <p:sp>
        <p:nvSpPr>
          <p:cNvPr id="9" name="Shape 7"/>
          <p:cNvSpPr/>
          <p:nvPr/>
        </p:nvSpPr>
        <p:spPr>
          <a:xfrm>
            <a:off x="3182112" y="996696"/>
            <a:ext cx="2761488" cy="3383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2112" y="996696"/>
            <a:ext cx="2761488" cy="457200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01269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CCPA Requirements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71648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GDPR requires clear disclosure of who collects data, why it is collected, and what rights users have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CCPA requires businesses to explain data collection, data use, and consumer rights such as opt-out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A major difference is that GDPR follows an opt-in approach, while CCPA focuses more on opt-out rights 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>
              <a:buSzPct val="100000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(European Union, 2016; California Legislature, 2018)</a:t>
            </a:r>
          </a:p>
        </p:txBody>
      </p:sp>
      <p:sp>
        <p:nvSpPr>
          <p:cNvPr id="13" name="Shape 11"/>
          <p:cNvSpPr/>
          <p:nvPr/>
        </p:nvSpPr>
        <p:spPr>
          <a:xfrm>
            <a:off x="6108192" y="996696"/>
            <a:ext cx="2761488" cy="3383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08192" y="989838"/>
            <a:ext cx="2761488" cy="4572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0241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for Compliance Assessment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53162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Early studies showed that NLP could be used to analyze privacy policies automatically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BERT improved this work by understanding context, not just matching keywords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Most prior NLP studies focus on one regulation at a time, especially GDPR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>
              <a:buSzPct val="100000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(Wilson et al., 2016; Devlin et al., 2019;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Okonicha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&amp;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Sadovykh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, 2024)</a:t>
            </a:r>
          </a:p>
          <a:p>
            <a:pPr>
              <a:buSzPct val="100000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6888" y="444627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Prior research has not systematically assessed GDPR and CCPA compliance at scale across multiple sectors using NLP.</a:t>
            </a:r>
          </a:p>
        </p:txBody>
      </p:sp>
      <p:sp>
        <p:nvSpPr>
          <p:cNvPr id="18" name="Shape 16"/>
          <p:cNvSpPr/>
          <p:nvPr/>
        </p:nvSpPr>
        <p:spPr>
          <a:xfrm>
            <a:off x="0" y="4832604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Literature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645920" cy="4572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1E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Goal: Develop, apply, and evaluate an automated NLP framework to systematically assess privacy policy compliance with GDPR and CCPA across major websites.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694944"/>
          </a:xfrm>
          <a:prstGeom prst="rect">
            <a:avLst/>
          </a:prstGeom>
          <a:solidFill>
            <a:srgbClr val="1D2D6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685800" cy="69494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920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 privacy policies of major websites comply with GDPR and CCPA?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15568" y="2258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Assess compliance rates across 24 disclosure elements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8412480" cy="694944"/>
          </a:xfrm>
          <a:prstGeom prst="rect">
            <a:avLst/>
          </a:prstGeom>
          <a:solidFill>
            <a:srgbClr val="1D2D6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685800" cy="69494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642616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688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compliance vary across industry sectors?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15568" y="30266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 finance, health, retail, technology, and media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8412480" cy="694944"/>
          </a:xfrm>
          <a:prstGeom prst="rect">
            <a:avLst/>
          </a:prstGeom>
          <a:solidFill>
            <a:srgbClr val="1D2D6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410712"/>
            <a:ext cx="685800" cy="69494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410712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456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key differences in compliance patterns between GDPR and CCPA?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5568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Identify structural divergences between the two frameworks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8412480" cy="694944"/>
          </a:xfrm>
          <a:prstGeom prst="rect">
            <a:avLst/>
          </a:prstGeom>
          <a:solidFill>
            <a:srgbClr val="1D2D6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78808"/>
            <a:ext cx="685800" cy="69494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178808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224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NLP effectively automate privacy policy compliance assessment?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15568" y="45628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 and evaluate a BERT-based multi-label classifier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Research Questions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Five-phase research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" y="1298448"/>
            <a:ext cx="1600200" cy="301752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1298448"/>
            <a:ext cx="1600200" cy="50292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1298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" y="1325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874520"/>
            <a:ext cx="1417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Scraped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Tranco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websites using a custom Python tool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Collected 4,913 privacy policy URLs</a:t>
            </a:r>
          </a:p>
        </p:txBody>
      </p:sp>
      <p:sp>
        <p:nvSpPr>
          <p:cNvPr id="10" name="Shape 8"/>
          <p:cNvSpPr/>
          <p:nvPr/>
        </p:nvSpPr>
        <p:spPr>
          <a:xfrm>
            <a:off x="1764792" y="2670048"/>
            <a:ext cx="192024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56816" y="1298448"/>
            <a:ext cx="1600200" cy="301752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56816" y="1298448"/>
            <a:ext cx="1600200" cy="50292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56816" y="1298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68296" y="1325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48256" y="1874520"/>
            <a:ext cx="1417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Applied quality and privacy-content filters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Removed duplicates and invalid policies</a:t>
            </a:r>
          </a:p>
        </p:txBody>
      </p:sp>
      <p:sp>
        <p:nvSpPr>
          <p:cNvPr id="16" name="Shape 14"/>
          <p:cNvSpPr/>
          <p:nvPr/>
        </p:nvSpPr>
        <p:spPr>
          <a:xfrm>
            <a:off x="3557016" y="2670048"/>
            <a:ext cx="192024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1298448"/>
            <a:ext cx="1600200" cy="301752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1298448"/>
            <a:ext cx="1600200" cy="50292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1298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60520" y="1325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1874520"/>
            <a:ext cx="1417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Cleaned and tokenized policy text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Created a 24-element compliance label schema</a:t>
            </a:r>
          </a:p>
        </p:txBody>
      </p:sp>
      <p:sp>
        <p:nvSpPr>
          <p:cNvPr id="22" name="Shape 20"/>
          <p:cNvSpPr/>
          <p:nvPr/>
        </p:nvSpPr>
        <p:spPr>
          <a:xfrm>
            <a:off x="5349240" y="2670048"/>
            <a:ext cx="192024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41264" y="1298448"/>
            <a:ext cx="1600200" cy="301752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41264" y="1298448"/>
            <a:ext cx="1600200" cy="50292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41264" y="1298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52744" y="1325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32704" y="1874520"/>
            <a:ext cx="1417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Fine-tuned BERT-base for multi-label classification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Trained the model using binary cross-entropy loss</a:t>
            </a:r>
          </a:p>
        </p:txBody>
      </p:sp>
      <p:sp>
        <p:nvSpPr>
          <p:cNvPr id="28" name="Shape 26"/>
          <p:cNvSpPr/>
          <p:nvPr/>
        </p:nvSpPr>
        <p:spPr>
          <a:xfrm>
            <a:off x="7141464" y="2670048"/>
            <a:ext cx="192024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33488" y="1298448"/>
            <a:ext cx="1600200" cy="301752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33488" y="1298448"/>
            <a:ext cx="1600200" cy="50292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33488" y="1298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44968" y="1325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24928" y="1874520"/>
            <a:ext cx="1417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Measured model performance across compliance elements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Compared results across sectors using statistical tests</a:t>
            </a:r>
          </a:p>
        </p:txBody>
      </p:sp>
      <p:sp>
        <p:nvSpPr>
          <p:cNvPr id="34" name="Shape 32"/>
          <p:cNvSpPr/>
          <p:nvPr/>
        </p:nvSpPr>
        <p:spPr>
          <a:xfrm>
            <a:off x="179016" y="4375565"/>
            <a:ext cx="8814816" cy="50292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032" y="4480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4,913 URLs scraped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41448" y="4535424"/>
            <a:ext cx="45720" cy="347472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87168" y="4480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3,674 valid policies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72584" y="4535424"/>
            <a:ext cx="45720" cy="347472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18304" y="444372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sectors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03720" y="4535424"/>
            <a:ext cx="45720" cy="347472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49440" y="4480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24 compliance elements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Methodology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BERT-Based Multi-Label Classifier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for 24-element compliance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1" y="1371600"/>
            <a:ext cx="1798237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1806628" cy="45719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9090" y="1910971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Privacy policy text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Tokenized up to 512 tokens</a:t>
            </a:r>
          </a:p>
        </p:txBody>
      </p:sp>
      <p:sp>
        <p:nvSpPr>
          <p:cNvPr id="14" name="Shape 12"/>
          <p:cNvSpPr/>
          <p:nvPr/>
        </p:nvSpPr>
        <p:spPr>
          <a:xfrm>
            <a:off x="2062660" y="2434559"/>
            <a:ext cx="437344" cy="5724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76997" y="1371600"/>
            <a:ext cx="1874395" cy="2194560"/>
          </a:xfrm>
          <a:prstGeom prst="rect">
            <a:avLst/>
          </a:prstGeom>
          <a:solidFill>
            <a:srgbClr val="1A25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76996" y="1371600"/>
            <a:ext cx="1874395" cy="45719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37476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24842" y="1904708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24 compliance predictions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12 GDPR + 12 CCPA elements</a:t>
            </a:r>
          </a:p>
        </p:txBody>
      </p:sp>
      <p:sp>
        <p:nvSpPr>
          <p:cNvPr id="34" name="Shape 32"/>
          <p:cNvSpPr/>
          <p:nvPr/>
        </p:nvSpPr>
        <p:spPr>
          <a:xfrm>
            <a:off x="256032" y="3749040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3472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4096512"/>
            <a:ext cx="4160520" cy="320040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33472" y="4096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4443984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45152" y="3749040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36592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22592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45152" y="4096512"/>
            <a:ext cx="4160520" cy="320040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36592" y="4096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22592" y="4096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45152" y="4443984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BERT Architecture</a:t>
            </a:r>
            <a:endParaRPr lang="en-US" sz="900" dirty="0"/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B27F74D4-4981-6AF9-CE89-985DEED88E16}"/>
              </a:ext>
            </a:extLst>
          </p:cNvPr>
          <p:cNvSpPr/>
          <p:nvPr/>
        </p:nvSpPr>
        <p:spPr>
          <a:xfrm>
            <a:off x="2500005" y="1353312"/>
            <a:ext cx="1798237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3136C19E-3C67-E3DA-C3BD-8187F63A1F5B}"/>
              </a:ext>
            </a:extLst>
          </p:cNvPr>
          <p:cNvSpPr/>
          <p:nvPr/>
        </p:nvSpPr>
        <p:spPr>
          <a:xfrm>
            <a:off x="2500006" y="1353312"/>
            <a:ext cx="1806628" cy="45719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A83A8691-6050-D1D0-13C8-5710A1EA9E3E}"/>
              </a:ext>
            </a:extLst>
          </p:cNvPr>
          <p:cNvSpPr/>
          <p:nvPr/>
        </p:nvSpPr>
        <p:spPr>
          <a:xfrm>
            <a:off x="4689556" y="1360138"/>
            <a:ext cx="1798237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17B00C9-6D52-45E0-3CBB-10D15FFEAEDF}"/>
              </a:ext>
            </a:extLst>
          </p:cNvPr>
          <p:cNvSpPr/>
          <p:nvPr/>
        </p:nvSpPr>
        <p:spPr>
          <a:xfrm>
            <a:off x="4689557" y="1360138"/>
            <a:ext cx="1806628" cy="45719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ACDDAB8C-8999-E82E-AF8D-74A90BE6E994}"/>
              </a:ext>
            </a:extLst>
          </p:cNvPr>
          <p:cNvSpPr/>
          <p:nvPr/>
        </p:nvSpPr>
        <p:spPr>
          <a:xfrm>
            <a:off x="6503013" y="2423161"/>
            <a:ext cx="473983" cy="45719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30BC87BC-46AA-1B4A-2545-5C75C7A789AE}"/>
              </a:ext>
            </a:extLst>
          </p:cNvPr>
          <p:cNvSpPr/>
          <p:nvPr/>
        </p:nvSpPr>
        <p:spPr>
          <a:xfrm flipV="1">
            <a:off x="4298241" y="2427666"/>
            <a:ext cx="391313" cy="45719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BD0A47-C57D-7E62-2BBF-80C14204B36A}"/>
              </a:ext>
            </a:extLst>
          </p:cNvPr>
          <p:cNvSpPr txBox="1"/>
          <p:nvPr/>
        </p:nvSpPr>
        <p:spPr>
          <a:xfrm>
            <a:off x="2824776" y="1558046"/>
            <a:ext cx="10801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2E4DA3"/>
                </a:solidFill>
                <a:latin typeface="Calibri" pitchFamily="34" charset="0"/>
                <a:cs typeface="Calibri" pitchFamily="34" charset="-120"/>
              </a:rPr>
              <a:t>BERT Encoder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68CE31-9495-56E5-85E6-31ECE61B672F}"/>
              </a:ext>
            </a:extLst>
          </p:cNvPr>
          <p:cNvSpPr txBox="1"/>
          <p:nvPr/>
        </p:nvSpPr>
        <p:spPr>
          <a:xfrm>
            <a:off x="4743979" y="1558046"/>
            <a:ext cx="15219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2E4DA3"/>
                </a:solidFill>
                <a:latin typeface="Calibri" pitchFamily="34" charset="0"/>
                <a:cs typeface="Calibri" pitchFamily="34" charset="-120"/>
              </a:rPr>
              <a:t>Classification Head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F0C8CA-C5A4-AC4A-5A15-3AC97AD9AA16}"/>
              </a:ext>
            </a:extLst>
          </p:cNvPr>
          <p:cNvSpPr txBox="1"/>
          <p:nvPr/>
        </p:nvSpPr>
        <p:spPr>
          <a:xfrm>
            <a:off x="2624546" y="2169510"/>
            <a:ext cx="13716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Pretrained BERT-base model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Learns contextual meaning from text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60F53-3C6B-43D3-7B8B-E171F6284D48}"/>
              </a:ext>
            </a:extLst>
          </p:cNvPr>
          <p:cNvSpPr txBox="1"/>
          <p:nvPr/>
        </p:nvSpPr>
        <p:spPr>
          <a:xfrm>
            <a:off x="4857591" y="2111702"/>
            <a:ext cx="13807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Applies dropout for regularization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Predicts multiple labels at once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Overall Compliance with GDPR and CCPA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3,674 privacy policies from globally ranked websites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256032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256032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" y="2231136"/>
            <a:ext cx="2560320" cy="52669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GDPR Compliance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99232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99232" y="1353312"/>
            <a:ext cx="2560320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9232" y="1463040"/>
            <a:ext cx="256032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999232" y="2231136"/>
            <a:ext cx="2560320" cy="52669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CCPA Compliance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42432" y="1353312"/>
            <a:ext cx="3145536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42432" y="1353312"/>
            <a:ext cx="3145536" cy="54864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42432" y="1463040"/>
            <a:ext cx="31455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 pp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742432" y="2231136"/>
            <a:ext cx="3145536" cy="52669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(GDPR–CCPA)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873276"/>
            <a:ext cx="8631936" cy="59436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 Paired t-test  ·  t = 70.78  ·  p &lt; 0.001  →  The difference is statistically significant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" y="3567989"/>
            <a:ext cx="4160520" cy="120060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5176" y="3567821"/>
            <a:ext cx="4160520" cy="45720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53682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Distribution (Median: 75.0%)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3822423"/>
            <a:ext cx="3886200" cy="867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Higher overall compliance </a:t>
            </a:r>
          </a:p>
          <a:p>
            <a:pPr>
              <a:buSzPct val="100000"/>
            </a:pPr>
            <a:endParaRPr lang="en-US" sz="100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Most organizations scored relatively high </a:t>
            </a:r>
          </a:p>
          <a:p>
            <a:pPr>
              <a:buSzPct val="100000"/>
            </a:pPr>
            <a:endParaRPr lang="en-US" sz="100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Suggests broader adoption of GDPR requirements</a:t>
            </a:r>
          </a:p>
        </p:txBody>
      </p:sp>
      <p:sp>
        <p:nvSpPr>
          <p:cNvPr id="23" name="Shape 21"/>
          <p:cNvSpPr/>
          <p:nvPr/>
        </p:nvSpPr>
        <p:spPr>
          <a:xfrm>
            <a:off x="4727448" y="3567821"/>
            <a:ext cx="4160520" cy="14156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27448" y="3567821"/>
            <a:ext cx="4160520" cy="4572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38335" y="353682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Distribution (Median: 41.7%)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38335" y="3963177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Lower overall compliance </a:t>
            </a:r>
          </a:p>
          <a:p>
            <a:pPr>
              <a:buSzPct val="100000"/>
            </a:pPr>
            <a:endParaRPr lang="en-US" sz="100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Compliance was less consistent across organizations</a:t>
            </a:r>
          </a:p>
          <a:p>
            <a:pPr>
              <a:buSzPct val="100000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Suggests weaker adoption of CCPA requirements</a:t>
            </a:r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RQ1 - Overall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3657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Element-Level Compliance Rates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92608" y="53492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13 &amp; 14 - 12 disclosure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" y="10287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/ Third Parties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47872" y="1056132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47872" y="1056132"/>
            <a:ext cx="4848149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10287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" y="13395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Purposes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47872" y="1367028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1367028"/>
            <a:ext cx="4772711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41080" y="13395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" y="16504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47872" y="1677924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47872" y="1677924"/>
            <a:ext cx="4752594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41080" y="16504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" y="19613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Identity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1988820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47872" y="1988820"/>
            <a:ext cx="4611776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41080" y="19613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" y="22722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47872" y="2299716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47872" y="2299716"/>
            <a:ext cx="4430725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41080" y="22722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" y="25831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Withdraw Consent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47872" y="2610612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47872" y="2610612"/>
            <a:ext cx="3520440" cy="201168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41080" y="2583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" y="28940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47872" y="2921508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47872" y="2921508"/>
            <a:ext cx="3490265" cy="201168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41080" y="28940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" y="32049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Periods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47872" y="3232404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547872" y="3232404"/>
            <a:ext cx="3480206" cy="201168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41080" y="32049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3464" y="35158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Complain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47872" y="3543300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47872" y="3543300"/>
            <a:ext cx="3097987" cy="201168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41080" y="35158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" y="38267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Decision-Making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47872" y="3854196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547872" y="3854196"/>
            <a:ext cx="1755191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41080" y="38267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3464" y="41376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Contact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47872" y="4165092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547872" y="4165092"/>
            <a:ext cx="1679753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41080" y="41376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3464" y="4438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Country Transfers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56964" y="4466844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551993" y="4476117"/>
            <a:ext cx="1121512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636508" y="44380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546639" y="838077"/>
            <a:ext cx="164592" cy="10972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65520" y="794127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 High compliance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98058" y="846521"/>
            <a:ext cx="164592" cy="109728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63234" y="8041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60 - 79%  Moderate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80656" y="867279"/>
            <a:ext cx="164592" cy="10972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336688" y="811337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60%  Critical gap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12932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37160" y="4854209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RQ1 - GDPR Elements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457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Element-Level Compliance Rates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52806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1798.100 - 1798.135 - 12 disclosure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" y="94411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Disclosed to Third Parties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47872" y="971550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47872" y="971550"/>
            <a:ext cx="3686404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41080" y="94411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" y="125501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Opt-Out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47872" y="1282446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1282446"/>
            <a:ext cx="3610966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41080" y="125501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" y="156591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Information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47872" y="1593342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47872" y="1593342"/>
            <a:ext cx="3429914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41080" y="156591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" y="187680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Personal Info Collected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1904238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47872" y="1904238"/>
            <a:ext cx="3203600" cy="201168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41080" y="187680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" y="218770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Sold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47872" y="2215134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47872" y="2215134"/>
            <a:ext cx="2781148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41080" y="218770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" y="249859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Purposes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47872" y="2526030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547872" y="2526030"/>
            <a:ext cx="2243023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41080" y="249859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" y="280949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Process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47872" y="2836926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47872" y="2836926"/>
            <a:ext cx="1926184" cy="2011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41080" y="280949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" y="312039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Agent Provisions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47872" y="3147822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547872" y="3147822"/>
            <a:ext cx="1312621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41080" y="312039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3464" y="343128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Know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47872" y="3458718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47872" y="3458718"/>
            <a:ext cx="1141628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41080" y="343128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" y="374218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Delete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47872" y="3769614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547872" y="3769614"/>
            <a:ext cx="1030986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41080" y="374218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3464" y="405307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Non-Discrimination Rights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47872" y="4080510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547872" y="4080510"/>
            <a:ext cx="809701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41080" y="405307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3464" y="437324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at Collection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47872" y="4412415"/>
            <a:ext cx="502920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545357" y="4412415"/>
            <a:ext cx="518008" cy="201168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636508" y="4379847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37744" y="4643317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Notice at collection, non-discrimination, and right to delete show near-total non-compliance across all sectors.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-4572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RQ1 - CCPA Elements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Compliance Variation Across Industry Sectors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Health · Retail · Technology · Media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121681"/>
            <a:ext cx="640080" cy="1635679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85732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98448" y="2743383"/>
            <a:ext cx="640080" cy="1012789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7008" y="248021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5780" y="3748034"/>
            <a:ext cx="1481328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813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03704" y="2125248"/>
            <a:ext cx="640080" cy="1623792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03704" y="18692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07792" y="2764780"/>
            <a:ext cx="640080" cy="98426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07792" y="25087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57984" y="3749040"/>
            <a:ext cx="1481328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57984" y="3813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04488" y="2096719"/>
            <a:ext cx="640080" cy="1652321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04488" y="1840687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08576" y="2702966"/>
            <a:ext cx="640080" cy="104607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08576" y="244693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8768" y="3749040"/>
            <a:ext cx="1481328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58768" y="3813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05272" y="2094342"/>
            <a:ext cx="640080" cy="1654698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05272" y="183831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738628"/>
            <a:ext cx="640080" cy="1010412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24825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59552" y="3749040"/>
            <a:ext cx="1481328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59552" y="3813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06056" y="2130003"/>
            <a:ext cx="640080" cy="1619037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06056" y="1873971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10144" y="2743383"/>
            <a:ext cx="640080" cy="1005657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10144" y="2487351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0336" y="3749040"/>
            <a:ext cx="1481328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0336" y="381304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" y="4187952"/>
            <a:ext cx="8631936" cy="54864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2245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ANOVA: F = 0.748, p = 0.559  -  Differences are NOT statistically significant across sectors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pattern mirrors GDPR: all sectors cluster 41.4% - 44.0%  →  Compliance gaps are systemic, not sector-driven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" y="1371691"/>
            <a:ext cx="256032" cy="164592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86968" y="133818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03120" y="1389888"/>
            <a:ext cx="256032" cy="164592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395728" y="13533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821" y="3748034"/>
            <a:ext cx="128016" cy="18288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-54091" y="362966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02336" y="3145536"/>
            <a:ext cx="128016" cy="18288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-23440" y="30449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7190" y="2496312"/>
            <a:ext cx="128016" cy="18288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-45720" y="2398213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821" y="1956816"/>
            <a:ext cx="128016" cy="18288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-53640" y="185623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06457" y="1369475"/>
            <a:ext cx="128016" cy="18288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-31296" y="127533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RQ2 - Cross-Sector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4173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Structural Differences Between GDPR and CCPA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do better on GDPR than CCPA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8339328" cy="68580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800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Finding: Organizations cover the CCPA areas that overlap with GDPR but often miss the CCPA specific requirements.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- Highest compliance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2450592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82112" y="24505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914400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798064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798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82112" y="27980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145536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145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82112" y="3145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- Lowest compliance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6576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657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Country Transfers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82112" y="3657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914400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4005072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0050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Contact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82112" y="40050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en-US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56032" y="4352544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4352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Decision-Making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82112" y="43525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- Highest compliance (overlap w/ GDPR)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2450592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Disclosed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98080" y="24505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914400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0" y="2798064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2798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Rights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98080" y="27980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0" y="3145536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3145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Info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98080" y="3145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- Lowest compliance (CCPA-unique)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572000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0" y="36576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3657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at Collection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98080" y="3657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914400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4005072"/>
            <a:ext cx="402336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63440" y="40050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Non-Discrimination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98080" y="40050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0" y="914400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en-US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572000" y="4352544"/>
            <a:ext cx="4023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663440" y="4352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Delete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498080" y="43525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43984" y="2103120"/>
            <a:ext cx="54864" cy="27432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6032" y="4818888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areas thrive  ·  CCPA-unique obligations near zero — confirming dual-framework compliance cannot be achieved with a single unified policy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RQ3 - Compliance Patterns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NLP Model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classifier evaluated on 735 held-out policies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1920240" cy="54864"/>
          </a:xfrm>
          <a:prstGeom prst="rect">
            <a:avLst/>
          </a:prstGeom>
          <a:solidFill>
            <a:srgbClr val="2A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" y="2176272"/>
            <a:ext cx="19202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35331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31720" y="1353312"/>
            <a:ext cx="192024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31720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331720" y="2176272"/>
            <a:ext cx="19202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F1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1353312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07408" y="1353312"/>
            <a:ext cx="1920240" cy="54864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07408" y="14630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07408" y="2176272"/>
            <a:ext cx="192024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83096" y="1353312"/>
            <a:ext cx="2404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83096" y="1353312"/>
            <a:ext cx="2404872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83096" y="146304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83096" y="2176272"/>
            <a:ext cx="2404872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Loss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 Scores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F1 Scores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3154680"/>
            <a:ext cx="4206240" cy="310896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154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82112" y="3154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502152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502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Purposes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82112" y="3502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9624"/>
            <a:ext cx="4206240" cy="310896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Identity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82112" y="3849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0.978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19709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41970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82112" y="41970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0.967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" y="4544568"/>
            <a:ext cx="4206240" cy="310896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45445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82112" y="45445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0.956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154680"/>
            <a:ext cx="4206240" cy="310896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154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Country Transfers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8080" y="31546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0.526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502152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35021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Decision-Making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98080" y="35021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0.549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849624"/>
            <a:ext cx="4206240" cy="310896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38496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Non-Discrimination Rights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98080" y="38496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0.547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419709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0" y="41970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at Collection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98080" y="41970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0.589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4544568"/>
            <a:ext cx="4206240" cy="310896"/>
          </a:xfrm>
          <a:prstGeom prst="rect">
            <a:avLst/>
          </a:prstGeom>
          <a:solidFill>
            <a:srgbClr val="D6E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Process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98080" y="45445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0.587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RQ4 - Model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828800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77824"/>
          </a:xfrm>
          <a:prstGeom prst="rect">
            <a:avLst/>
          </a:prstGeom>
          <a:solidFill>
            <a:srgbClr val="1D2B6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94360" cy="87782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0607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Compliance is uneven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26464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8898AA"/>
                </a:solidFill>
                <a:latin typeface="Calibri" pitchFamily="34" charset="0"/>
                <a:cs typeface="Calibri" pitchFamily="34" charset="-120"/>
              </a:rPr>
              <a:t>GDPR compliance was higher than CCPA compliance, with a large and statistically significant gap. Basic transparency items were more commonly disclosed than more complex requirements.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8412480" cy="877824"/>
          </a:xfrm>
          <a:prstGeom prst="rect">
            <a:avLst/>
          </a:prstGeom>
          <a:solidFill>
            <a:srgbClr val="1D2B6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594360" cy="87782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482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Sector differences were minimal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14016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8898AA"/>
                </a:solidFill>
                <a:latin typeface="Calibri" pitchFamily="34" charset="0"/>
                <a:cs typeface="Calibri" pitchFamily="34" charset="-120"/>
              </a:rPr>
              <a:t>Compliance levels were similar across all five sectors. This suggests the problem is broad and not limited to one industry.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8412480" cy="877824"/>
          </a:xfrm>
          <a:prstGeom prst="rect">
            <a:avLst/>
          </a:prstGeom>
          <a:solidFill>
            <a:srgbClr val="1D2B6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594360" cy="87782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80944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0358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Dual-framework compliance cannot be achieved by one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01568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8898AA"/>
                </a:solidFill>
                <a:latin typeface="Calibri" pitchFamily="34" charset="0"/>
                <a:cs typeface="Calibri" pitchFamily="34" charset="-120"/>
              </a:rPr>
              <a:t>Organizations did better on CCPA items that overlap with GDPR, but weaker on CCPA-specific requirements. This shows that GDPR-style disclosures alone are not enough.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968496"/>
            <a:ext cx="8412480" cy="877824"/>
          </a:xfrm>
          <a:prstGeom prst="rect">
            <a:avLst/>
          </a:prstGeom>
          <a:solidFill>
            <a:srgbClr val="1D2B6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968496"/>
            <a:ext cx="594360" cy="87782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68496"/>
            <a:ext cx="594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0233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NLP assessment is viable and scalable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389120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8898AA"/>
                </a:solidFill>
                <a:latin typeface="Calibri" pitchFamily="34" charset="0"/>
                <a:cs typeface="Calibri" pitchFamily="34" charset="-120"/>
              </a:rPr>
              <a:t>The BERT model performed well overall and was effective for large-scale compliance assessment. This shows that NLP can support automated privacy policy analysis.</a:t>
            </a:r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Key Findings Summary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to the Literature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adds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4206240" cy="1097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20624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Large-Scale Dual-Framework Assessment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3986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This study compares GDPR and CCPA compliance at the same time across a large set of privacy policies.</a:t>
            </a:r>
          </a:p>
        </p:txBody>
      </p:sp>
      <p:sp>
        <p:nvSpPr>
          <p:cNvPr id="9" name="Shape 7"/>
          <p:cNvSpPr/>
          <p:nvPr/>
        </p:nvSpPr>
        <p:spPr>
          <a:xfrm>
            <a:off x="256032" y="2532888"/>
            <a:ext cx="4206240" cy="1097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2532888"/>
            <a:ext cx="420624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62432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Large Privacy Policy Datasets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3986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The study used 3,674 validated privacy policies, making it one of the largest datasets in this area.</a:t>
            </a:r>
          </a:p>
        </p:txBody>
      </p:sp>
      <p:sp>
        <p:nvSpPr>
          <p:cNvPr id="13" name="Shape 11"/>
          <p:cNvSpPr/>
          <p:nvPr/>
        </p:nvSpPr>
        <p:spPr>
          <a:xfrm>
            <a:off x="256032" y="3767328"/>
            <a:ext cx="4206240" cy="1097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3767328"/>
            <a:ext cx="420624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85876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Unified 24-Element Compliance 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242816"/>
            <a:ext cx="3986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The study developed a single framework covering 12 GDPR and 12 CCPA disclosure elements.</a:t>
            </a:r>
          </a:p>
        </p:txBody>
      </p:sp>
      <p:sp>
        <p:nvSpPr>
          <p:cNvPr id="17" name="Shape 15"/>
          <p:cNvSpPr/>
          <p:nvPr/>
        </p:nvSpPr>
        <p:spPr>
          <a:xfrm>
            <a:off x="4690872" y="1298448"/>
            <a:ext cx="4206240" cy="1097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90872" y="1298448"/>
            <a:ext cx="420624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3898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Compliance Assessment Validated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773936"/>
            <a:ext cx="3986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The BERT model showed that NLP can be used to assess privacy policy compliance at scale.</a:t>
            </a:r>
          </a:p>
        </p:txBody>
      </p:sp>
      <p:sp>
        <p:nvSpPr>
          <p:cNvPr id="21" name="Shape 19"/>
          <p:cNvSpPr/>
          <p:nvPr/>
        </p:nvSpPr>
        <p:spPr>
          <a:xfrm>
            <a:off x="4690872" y="2532888"/>
            <a:ext cx="4206240" cy="109728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90872" y="2532888"/>
            <a:ext cx="4206240" cy="54864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62432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Sector-wide Compliance Insight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08376"/>
            <a:ext cx="3986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The findings show that compliance gaps appear across sectors, not just in one industry.</a:t>
            </a:r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Contributions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organizations, regulators, and researchers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2761488" cy="356616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761488" cy="457200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5420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Treat GDPR and CCPA as separate compliance requirements </a:t>
            </a: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Strengthen the weakest disclosure areas, especially CCPA-specific ones</a:t>
            </a:r>
          </a:p>
        </p:txBody>
      </p:sp>
      <p:sp>
        <p:nvSpPr>
          <p:cNvPr id="9" name="Shape 7"/>
          <p:cNvSpPr/>
          <p:nvPr/>
        </p:nvSpPr>
        <p:spPr>
          <a:xfrm>
            <a:off x="3182112" y="1298448"/>
            <a:ext cx="2761488" cy="356616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2112" y="1298448"/>
            <a:ext cx="2761488" cy="457200"/>
          </a:xfrm>
          <a:prstGeom prst="rect">
            <a:avLst/>
          </a:prstGeom>
          <a:solidFill>
            <a:srgbClr val="2E4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3350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5420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Provide clearer cross-sector guidance on privacy disclosures </a:t>
            </a: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Encourage more standardized and machine-readable policy formats</a:t>
            </a:r>
          </a:p>
        </p:txBody>
      </p:sp>
      <p:sp>
        <p:nvSpPr>
          <p:cNvPr id="13" name="Shape 11"/>
          <p:cNvSpPr/>
          <p:nvPr/>
        </p:nvSpPr>
        <p:spPr>
          <a:xfrm>
            <a:off x="6108192" y="1298448"/>
            <a:ext cx="2761488" cy="3566160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08192" y="1298448"/>
            <a:ext cx="2761488" cy="4572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3350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5420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Test stronger legal or domain-specific NLP models </a:t>
            </a: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Extend this framework to other privacy laws and real-world compliance settings</a:t>
            </a:r>
          </a:p>
        </p:txBody>
      </p:sp>
      <p:sp>
        <p:nvSpPr>
          <p:cNvPr id="17" name="Shape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Scope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6032" y="8961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context for interpreting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4206240" cy="111556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206240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Keyword-Based Labels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Labels based on keywords may miss policies that use indirect or less obvious language.</a:t>
            </a:r>
          </a:p>
        </p:txBody>
      </p:sp>
      <p:sp>
        <p:nvSpPr>
          <p:cNvPr id="9" name="Shape 7"/>
          <p:cNvSpPr/>
          <p:nvPr/>
        </p:nvSpPr>
        <p:spPr>
          <a:xfrm>
            <a:off x="4690872" y="1298448"/>
            <a:ext cx="4206240" cy="111556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1298448"/>
            <a:ext cx="4206240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38988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Disclosed vs. Actual Compliance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73936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This study evaluates what organizations say in their privacy policies, not what they actually do in practice.</a:t>
            </a:r>
          </a:p>
        </p:txBody>
      </p:sp>
      <p:sp>
        <p:nvSpPr>
          <p:cNvPr id="13" name="Shape 11"/>
          <p:cNvSpPr/>
          <p:nvPr/>
        </p:nvSpPr>
        <p:spPr>
          <a:xfrm>
            <a:off x="256032" y="2532888"/>
            <a:ext cx="4206240" cy="111556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532888"/>
            <a:ext cx="4206240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2432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Cross-Sectional Snapshot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008376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The findings reflect one point in time, so compliance patterns may change as laws and enforcement evolve.</a:t>
            </a:r>
          </a:p>
        </p:txBody>
      </p:sp>
      <p:sp>
        <p:nvSpPr>
          <p:cNvPr id="17" name="Shape 15"/>
          <p:cNvSpPr/>
          <p:nvPr/>
        </p:nvSpPr>
        <p:spPr>
          <a:xfrm>
            <a:off x="4690872" y="2532888"/>
            <a:ext cx="4206240" cy="111556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90872" y="2532888"/>
            <a:ext cx="4206240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62432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English-Language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008376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The study includes only English-language policies, which limits how broadly the findings can be generalized.</a:t>
            </a:r>
          </a:p>
        </p:txBody>
      </p:sp>
      <p:sp>
        <p:nvSpPr>
          <p:cNvPr id="21" name="Shape 19"/>
          <p:cNvSpPr/>
          <p:nvPr/>
        </p:nvSpPr>
        <p:spPr>
          <a:xfrm>
            <a:off x="256032" y="3767328"/>
            <a:ext cx="4206240" cy="111556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767328"/>
            <a:ext cx="4206240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85876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Scraping Success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242816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Not all targeted websites produced usable policy text, which may affect how representative the sample is.</a:t>
            </a:r>
          </a:p>
        </p:txBody>
      </p:sp>
      <p:sp>
        <p:nvSpPr>
          <p:cNvPr id="25" name="Shape 23"/>
          <p:cNvSpPr/>
          <p:nvPr/>
        </p:nvSpPr>
        <p:spPr>
          <a:xfrm>
            <a:off x="4690872" y="3767328"/>
            <a:ext cx="4206240" cy="1115568"/>
          </a:xfrm>
          <a:prstGeom prst="rect">
            <a:avLst/>
          </a:prstGeom>
          <a:solidFill>
            <a:srgbClr val="D6E4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90872" y="3767328"/>
            <a:ext cx="4206240" cy="54864"/>
          </a:xfrm>
          <a:prstGeom prst="rect">
            <a:avLst/>
          </a:prstGeom>
          <a:solidFill>
            <a:srgbClr val="8898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85876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General-Purpose BERT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242816"/>
            <a:ext cx="3986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Using a general BERT model may have reduced performance on highly legal or specialized privacy language.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Limitations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828800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" cy="804672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6E4FF"/>
                </a:solidFill>
                <a:latin typeface="Calibri" pitchFamily="34" charset="0"/>
                <a:cs typeface="Calibri" pitchFamily="34" charset="-120"/>
              </a:rPr>
              <a:t>Privacy policy compliance with GDPR and CCPA is still incomplete and uneven.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0467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02920" cy="804672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6E4FF"/>
                </a:solidFill>
                <a:latin typeface="Calibri" pitchFamily="34" charset="0"/>
                <a:cs typeface="Calibri" pitchFamily="34" charset="-120"/>
              </a:rPr>
              <a:t>Compliance gaps were similar across sectors, suggesting a broad system-wide issue.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80467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502920" cy="804672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6E4FF"/>
                </a:solidFill>
                <a:latin typeface="Calibri" pitchFamily="34" charset="0"/>
                <a:cs typeface="Calibri" pitchFamily="34" charset="-120"/>
              </a:rPr>
              <a:t>GDPR and CCPA require different disclosure approaches, so one policy strategy is not enough.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80467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502920" cy="804672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6E4FF"/>
                </a:solidFill>
                <a:latin typeface="Calibri" pitchFamily="34" charset="0"/>
                <a:cs typeface="Calibri" pitchFamily="34" charset="-120"/>
              </a:rPr>
              <a:t>The BERT-based NLP model performed well, showing that automated compliance assessment is possible at scale.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4633722"/>
            <a:ext cx="8412480" cy="347472"/>
          </a:xfrm>
          <a:prstGeom prst="rect">
            <a:avLst/>
          </a:prstGeom>
          <a:solidFill>
            <a:srgbClr val="131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5449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privacy regulation continues to expand globally, the demand for robust, scalable compliance tools will only grow. This framework provides a foundation for that work.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" y="483717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  |  M.S. Applied Data Analytics  |  Appalachian State University  |  May 2026   ·   Conclusions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2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645920" cy="54864"/>
          </a:xfrm>
          <a:prstGeom prst="rect">
            <a:avLst/>
          </a:prstGeom>
          <a:solidFill>
            <a:srgbClr val="E855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057400"/>
            <a:ext cx="5989320" cy="62179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122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34640" y="21122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Policies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70632"/>
            <a:ext cx="5989320" cy="62179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254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68.9% vs 42.6%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282549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vs. CCPA Mean Compliance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483864"/>
            <a:ext cx="5989320" cy="62179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353872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Model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197096"/>
            <a:ext cx="5989320" cy="621792"/>
          </a:xfrm>
          <a:prstGeom prst="rect">
            <a:avLst/>
          </a:prstGeom>
          <a:solidFill>
            <a:srgbClr val="1D2B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34640" y="42519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Elements Assessed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731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NANA DWUMA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1143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Applied Data Analytics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cs typeface="Calibri" pitchFamily="34" charset="-120"/>
              </a:rPr>
              <a:t>Masters of Business Administration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State University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Chair: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 Hassler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Jason Xiong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383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Jeffrey P. Kaleta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3799</Words>
  <Application>Microsoft Macintosh PowerPoint</Application>
  <PresentationFormat>On-screen Show (16:9)</PresentationFormat>
  <Paragraphs>590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Defense: Assessing Online Privacy Policy Compliance with GDPR and CCPA Using NLP</dc:title>
  <dc:subject>PptxGenJS Presentation</dc:subject>
  <dc:creator>Daniel Nana Dwuma</dc:creator>
  <cp:lastModifiedBy>Nana Dwuma</cp:lastModifiedBy>
  <cp:revision>9</cp:revision>
  <dcterms:created xsi:type="dcterms:W3CDTF">2026-03-20T18:55:03Z</dcterms:created>
  <dcterms:modified xsi:type="dcterms:W3CDTF">2026-03-28T01:19:14Z</dcterms:modified>
</cp:coreProperties>
</file>